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6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7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8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9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7cbb01c6-1d51-0472-8f6f-fce9cfdc4294}">
          <p14:sldIdLst>
            <p14:sldId id="256"/>
            <p14:sldId id="257"/>
          </p14:sldIdLst>
        </p14:section>
        <p14:section name="Contexto" id="{dfd78ef5-f0f7-d09b-4768-f7a481fd9f37}">
          <p14:sldIdLst>
            <p14:sldId id="258"/>
            <p14:sldId id="259"/>
            <p14:sldId id="260"/>
          </p14:sldIdLst>
        </p14:section>
        <p14:section name="Aplicación" id="{51866474-c3e3-af81-c713-5934486d8124}">
          <p14:sldIdLst>
            <p14:sldId id="261"/>
            <p14:sldId id="262"/>
            <p14:sldId id="263"/>
          </p14:sldIdLst>
        </p14:section>
        <p14:section name="Infraestructura" id="{c2a77176-71fc-92d3-1b8c-31b367027e1f}">
          <p14:sldIdLst>
            <p14:sldId id="264"/>
            <p14:sldId id="265"/>
            <p14:sldId id="266"/>
            <p14:sldId id="267"/>
            <p14:sldId id="268"/>
          </p14:sldIdLst>
        </p14:section>
        <p14:section name="Metodología" id="{52dc0120-2e9f-e36e-4636-8c405c6fd9cf}">
          <p14:sldIdLst>
            <p14:sldId id="269"/>
            <p14:sldId id="270"/>
            <p14:sldId id="271"/>
          </p14:sldIdLst>
        </p14:section>
        <p14:section name="Resultados" id="{f23c5e48-5885-f401-0682-1d0427834ef2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Hallazgos" id="{09bd7f38-4b44-f865-3a49-458c927b30b7}">
          <p14:sldIdLst>
            <p14:sldId id="280"/>
            <p14:sldId id="281"/>
            <p14:sldId id="282"/>
            <p14:sldId id="283"/>
          </p14:sldIdLst>
        </p14:section>
        <p14:section name="Cierre" id="{7a8ef3ed-ae8f-d05c-a9ba-25310b133556}">
          <p14:sldIdLst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Mezcla de peticiones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Mezcla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bubble3D val="0"/>
            <c:spPr>
              <a:solidFill>
                <a:srgbClr val="F26B1D"/>
              </a:solidFill>
              <a:effectLst/>
            </c:spPr>
          </c:dPt>
          <c:dPt>
            <c:idx val="3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Por id</c:v>
                </c:pt>
                <c:pt idx="1">
                  <c:v>Por categoría</c:v>
                </c:pt>
                <c:pt idx="2">
                  <c:v>Búsqueda</c:v>
                </c:pt>
                <c:pt idx="3">
                  <c:v>Pedidos (POST)</c:v>
                </c:pt>
                <c:pt idx="4">
                  <c:v>Reporte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</c:v>
                </c:pt>
                <c:pt idx="1">
                  <c:v>25</c:v>
                </c:pt>
                <c:pt idx="2">
                  <c:v>10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6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req/s exitosas (media de 3 repeticiones)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réplica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nodo</c:v>
                  </c:pt>
                  <c:pt idx="1">
                    <c:v>2 nodos</c:v>
                  </c:pt>
                  <c:pt idx="2">
                    <c:v>3 nodos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14.5</c:v>
                </c:pt>
                <c:pt idx="1">
                  <c:v>14.5</c:v>
                </c:pt>
                <c:pt idx="2">
                  <c:v>15.3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réplicas</c:v>
                </c:pt>
              </c:strCache>
            </c:strRef>
          </c:tx>
          <c:spPr>
            <a:solidFill>
              <a:srgbClr val="F26B1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nodo</c:v>
                  </c:pt>
                  <c:pt idx="1">
                    <c:v>2 nodos</c:v>
                  </c:pt>
                  <c:pt idx="2">
                    <c:v>3 nodos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19.7</c:v>
                </c:pt>
                <c:pt idx="1">
                  <c:v>19.9</c:v>
                </c:pt>
                <c:pt idx="2">
                  <c:v>20.6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réplicas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nodo</c:v>
                  </c:pt>
                  <c:pt idx="1">
                    <c:v>2 nodos</c:v>
                  </c:pt>
                  <c:pt idx="2">
                    <c:v>3 nodos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22.7</c:v>
                </c:pt>
                <c:pt idx="1">
                  <c:v>22.6</c:v>
                </c:pt>
                <c:pt idx="2">
                  <c:v>23.6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6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Throughput (req/s) · K8s 1 nodo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Docker</c:v>
                </c:pt>
              </c:strCache>
            </c:strRef>
          </c:tx>
          <c:spPr>
            <a:solidFill>
              <a:srgbClr val="6B7280"/>
            </a:solidFill>
            <a:ln w="25400" cap="flat">
              <a:solidFill>
                <a:srgbClr val="6B72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14.41</c:v>
                </c:pt>
                <c:pt idx="1">
                  <c:v>14.71</c:v>
                </c:pt>
                <c:pt idx="2">
                  <c:v>14.75</c:v>
                </c:pt>
                <c:pt idx="3">
                  <c:v>14.75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 réplica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13.9</c:v>
                </c:pt>
                <c:pt idx="1">
                  <c:v>14.41</c:v>
                </c:pt>
                <c:pt idx="2">
                  <c:v>14.54</c:v>
                </c:pt>
                <c:pt idx="3">
                  <c:v>14.53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 réplicas</c:v>
                </c:pt>
              </c:strCache>
            </c:strRef>
          </c:tx>
          <c:spPr>
            <a:solidFill>
              <a:srgbClr val="F26B1D"/>
            </a:solidFill>
            <a:ln w="25400" cap="flat">
              <a:solidFill>
                <a:srgbClr val="F26B1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6B1D"/>
              </a:solidFill>
              <a:ln w="9525" cap="flat">
                <a:solidFill>
                  <a:srgbClr val="F26B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13.38</c:v>
                </c:pt>
                <c:pt idx="1">
                  <c:v>19.97</c:v>
                </c:pt>
                <c:pt idx="2">
                  <c:v>19.6</c:v>
                </c:pt>
                <c:pt idx="3">
                  <c:v>19.67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 réplicas</c:v>
                </c:pt>
              </c:strCache>
            </c:strRef>
          </c:tx>
          <c:spPr>
            <a:solidFill>
              <a:srgbClr val="16A34A"/>
            </a:solidFill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14.54</c:v>
                </c:pt>
                <c:pt idx="1">
                  <c:v>22.35</c:v>
                </c:pt>
                <c:pt idx="2">
                  <c:v>22.43</c:v>
                </c:pt>
                <c:pt idx="3">
                  <c:v>22.66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67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675"/>
                    </a:solidFill>
                    <a:latin typeface="Arial"/>
                  </a:rPr>
                  <a:t>usuarios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1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6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Tiempo medio de respuesta (s)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Docker</c:v>
                </c:pt>
              </c:strCache>
            </c:strRef>
          </c:tx>
          <c:spPr>
            <a:solidFill>
              <a:srgbClr val="6B7280"/>
            </a:solidFill>
            <a:ln w="25400" cap="flat">
              <a:solidFill>
                <a:srgbClr val="6B72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0.69</c:v>
                </c:pt>
                <c:pt idx="1">
                  <c:v>3.38</c:v>
                </c:pt>
                <c:pt idx="2">
                  <c:v>6.76</c:v>
                </c:pt>
                <c:pt idx="3">
                  <c:v>13.67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 réplica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0.72</c:v>
                </c:pt>
                <c:pt idx="1">
                  <c:v>3.45</c:v>
                </c:pt>
                <c:pt idx="2">
                  <c:v>6.88</c:v>
                </c:pt>
                <c:pt idx="3">
                  <c:v>13.82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 réplicas</c:v>
                </c:pt>
              </c:strCache>
            </c:strRef>
          </c:tx>
          <c:spPr>
            <a:solidFill>
              <a:srgbClr val="F26B1D"/>
            </a:solidFill>
            <a:ln w="25400" cap="flat">
              <a:solidFill>
                <a:srgbClr val="F26B1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6B1D"/>
              </a:solidFill>
              <a:ln w="9525" cap="flat">
                <a:solidFill>
                  <a:srgbClr val="F26B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0.75</c:v>
                </c:pt>
                <c:pt idx="1">
                  <c:v>2.32</c:v>
                </c:pt>
                <c:pt idx="2">
                  <c:v>4.76</c:v>
                </c:pt>
                <c:pt idx="3">
                  <c:v>9.54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 réplicas</c:v>
                </c:pt>
              </c:strCache>
            </c:strRef>
          </c:tx>
          <c:spPr>
            <a:solidFill>
              <a:srgbClr val="16A34A"/>
            </a:solidFill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0.69</c:v>
                </c:pt>
                <c:pt idx="1">
                  <c:v>2.05</c:v>
                </c:pt>
                <c:pt idx="2">
                  <c:v>4.11</c:v>
                </c:pt>
                <c:pt idx="3">
                  <c:v>8.18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67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675"/>
                    </a:solidFill>
                    <a:latin typeface="Arial"/>
                  </a:rPr>
                  <a:t>usuarios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6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Speedup = TPS(N réplicas) / TPS(1 réplica) · 200 usuarios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 lineal</c:v>
                </c:pt>
              </c:strCache>
            </c:strRef>
          </c:tx>
          <c:spPr>
            <a:solidFill>
              <a:srgbClr val="9CA3AF"/>
            </a:solidFill>
            <a:ln w="2540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 nodo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1.36</c:v>
                </c:pt>
                <c:pt idx="2">
                  <c:v>1.57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 nodos</c:v>
                </c:pt>
              </c:strCache>
            </c:strRef>
          </c:tx>
          <c:spPr>
            <a:solidFill>
              <a:srgbClr val="F26B1D"/>
            </a:solidFill>
            <a:ln w="25400" cap="flat">
              <a:solidFill>
                <a:srgbClr val="F26B1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6B1D"/>
              </a:solidFill>
              <a:ln w="9525" cap="flat">
                <a:solidFill>
                  <a:srgbClr val="F26B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1.37</c:v>
                </c:pt>
                <c:pt idx="2">
                  <c:v>1.56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 nodos</c:v>
                </c:pt>
              </c:strCache>
            </c:strRef>
          </c:tx>
          <c:spPr>
            <a:solidFill>
              <a:srgbClr val="16A34A"/>
            </a:solidFill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</c:v>
                </c:pt>
                <c:pt idx="1">
                  <c:v>1.35</c:v>
                </c:pt>
                <c:pt idx="2">
                  <c:v>1.54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67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675"/>
                    </a:solidFill>
                    <a:latin typeface="Arial"/>
                  </a:rPr>
                  <a:t>réplicas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2"/>
          <c:min val="0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6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% de CPU por nodo · 3 nodos, 3 réplicas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del nodo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nodo1 (PostgreSQL)</c:v>
                  </c:pt>
                  <c:pt idx="1">
                    <c:v>nodo2</c:v>
                  </c:pt>
                  <c:pt idx="2">
                    <c:v>nodo3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55.6</c:v>
                </c:pt>
                <c:pt idx="1">
                  <c:v>3.1</c:v>
                </c:pt>
                <c:pt idx="2">
                  <c:v>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Núcleos de CPU usados con 200 usuarios (límite: 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PostgreSQL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Docker</c:v>
                  </c:pt>
                  <c:pt idx="1">
                    <c:v>1n-1r</c:v>
                  </c:pt>
                  <c:pt idx="2">
                    <c:v>1n-3r</c:v>
                  </c:pt>
                  <c:pt idx="3">
                    <c:v>2n-3r</c:v>
                  </c:pt>
                  <c:pt idx="4">
                    <c:v>3n-3r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0.94</c:v>
                </c:pt>
                <c:pt idx="1">
                  <c:v>0.91</c:v>
                </c:pt>
                <c:pt idx="2">
                  <c:v>0.9</c:v>
                </c:pt>
                <c:pt idx="3">
                  <c:v>0.91</c:v>
                </c:pt>
                <c:pt idx="4">
                  <c:v>0.92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API (todas las réplicas)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Docker</c:v>
                  </c:pt>
                  <c:pt idx="1">
                    <c:v>1n-1r</c:v>
                  </c:pt>
                  <c:pt idx="2">
                    <c:v>1n-3r</c:v>
                  </c:pt>
                  <c:pt idx="3">
                    <c:v>2n-3r</c:v>
                  </c:pt>
                  <c:pt idx="4">
                    <c:v>3n-3r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0.06</c:v>
                </c:pt>
                <c:pt idx="1">
                  <c:v>0.056</c:v>
                </c:pt>
                <c:pt idx="2">
                  <c:v>0.107</c:v>
                </c:pt>
                <c:pt idx="3">
                  <c:v>0.096</c:v>
                </c:pt>
                <c:pt idx="4">
                  <c:v>0.091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6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Throughput (req/s) por número de usuarios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Docker Compose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14.41</c:v>
                </c:pt>
                <c:pt idx="1">
                  <c:v>14.71</c:v>
                </c:pt>
                <c:pt idx="2">
                  <c:v>14.75</c:v>
                </c:pt>
                <c:pt idx="3">
                  <c:v>14.75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K8s 1 nodo · 1 réplica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13.9</c:v>
                </c:pt>
                <c:pt idx="1">
                  <c:v>14.41</c:v>
                </c:pt>
                <c:pt idx="2">
                  <c:v>14.54</c:v>
                </c:pt>
                <c:pt idx="3">
                  <c:v>14.53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67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675"/>
                    </a:solidFill>
                    <a:latin typeface="Arial"/>
                  </a:rPr>
                  <a:t>usuarios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6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% de reportes fallidos (100-200 usuarios, 1 nodo)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Reportes fallidos (%)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6B1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Docker</c:v>
                  </c:pt>
                  <c:pt idx="1">
                    <c:v>1 réplica</c:v>
                  </c:pt>
                  <c:pt idx="2">
                    <c:v>2 réplicas</c:v>
                  </c:pt>
                  <c:pt idx="3">
                    <c:v>3 réplicas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</c:v>
                </c:pt>
                <c:pt idx="1">
                  <c:v>7.7</c:v>
                </c:pt>
                <c:pt idx="2">
                  <c:v>69.8</c:v>
                </c:pt>
                <c:pt idx="3">
                  <c:v>83.3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proyecto final: desplegamos la misma API de una tienda online de 10 formas distintas, con Docker Compose y con Kubernetes en 1, 2 y 3 nodos, y medimos con JMeter cómo cambian el rendimiento y los errores.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10 escenarios: Docker como referencia y 9 combinaciones de Kubernetes. Cada uno con 10, 50, 100 y 200 usuarios y 3 repeticiones de 3 minutos: 120 corridas.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4 VMs n2d-standard-2 en Google Cloud, todas en la misma red privada. nodo1 hizo la Fase 1 con Docker y luego fue el servidor de K3s; nodo2 y nodo3 se unieron en las fases de 2 y 3 nodos. JMeter corre aparte. Empezamos en Azure, pero la cuota de estudiante no alcanzaba.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1 réplica el sistema ya está saturado con 10 usuarios: el throughput no pasa de unas 14,5 peticiones por segundo y el tiempo de respuesta crece en proporción a los usuarios. Con 2 y 3 réplicas la meseta llega con 50 usuarios.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clave del análisis. PostgreSQL usa unos 0,9 núcleos de su límite de 1 en todos los escenarios y tiene throttling constante. Todas las réplicas de la API juntas no llegan a 0,11 núcleos: la API espera a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video se ve todo funcionando. Aquí dos momentos: al escalar de 1 a 3 réplicas, Kubernetes pone una en cada nodo; y durante la carga, kubectl top muestra a PostgreSQL usando un núcleo completo mientras las réplicas casi no trabajan.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 intento de Kubernetes daba hasta 87 por ciento de errores. La causa: las sondas por defecto dan 1 segundo para responder. Bajo carga, el health check espera a la base de datos y tarda más, así que Kubernetes creía que el pod estaba muerto y lo reiniciaba en plena prueba. Lo corregimos y descartamos esas corridas para que la comparación fuera justa.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60120"/>
            <a:ext cx="80467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4B5FD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21-1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601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Comportamiento de una aplicación bajo diferentes escenarios de despliegue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B5FD"/>
                </a:solidFill>
              </a:rPr>
              <a:t>Docker Compose vs. Kubernetes (K3s) con 1, 2 y 3 nodos · Proyecto Final</a:t>
            </a:r>
            <a:endParaRPr lang="en-US" sz="1600" dirty="0"/>
          </a:p>
        </p:txBody>
      </p:sp>
      <p:sp>
        <p:nvSpPr>
          <p:cNvPr id="4" name="chip-tecnologia"/>
          <p:cNvSpPr/>
          <p:nvPr/>
        </p:nvSpPr>
        <p:spPr>
          <a:xfrm>
            <a:off x="548640" y="4114800"/>
            <a:ext cx="987552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11480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FastAPI</a:t>
            </a:r>
            <a:endParaRPr lang="en-US" sz="1100" dirty="0"/>
          </a:p>
        </p:txBody>
      </p:sp>
      <p:sp>
        <p:nvSpPr>
          <p:cNvPr id="6" name="chip-tecnologia"/>
          <p:cNvSpPr/>
          <p:nvPr/>
        </p:nvSpPr>
        <p:spPr>
          <a:xfrm>
            <a:off x="1627632" y="4114800"/>
            <a:ext cx="987552" cy="347472"/>
          </a:xfrm>
          <a:prstGeom prst="roundRect">
            <a:avLst>
              <a:gd name="adj" fmla="val 26316"/>
            </a:avLst>
          </a:prstGeom>
          <a:solidFill>
            <a:srgbClr val="33679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27632" y="411480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8" name="chip-tecnologia"/>
          <p:cNvSpPr/>
          <p:nvPr/>
        </p:nvSpPr>
        <p:spPr>
          <a:xfrm>
            <a:off x="2706624" y="4114800"/>
            <a:ext cx="987552" cy="347472"/>
          </a:xfrm>
          <a:prstGeom prst="roundRect">
            <a:avLst>
              <a:gd name="adj" fmla="val 26316"/>
            </a:avLst>
          </a:prstGeom>
          <a:solidFill>
            <a:srgbClr val="1D63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06624" y="411480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Docker</a:t>
            </a:r>
            <a:endParaRPr lang="en-US" sz="1100" dirty="0"/>
          </a:p>
        </p:txBody>
      </p:sp>
      <p:sp>
        <p:nvSpPr>
          <p:cNvPr id="10" name="chip-tecnologia"/>
          <p:cNvSpPr/>
          <p:nvPr/>
        </p:nvSpPr>
        <p:spPr>
          <a:xfrm>
            <a:off x="3785616" y="4114800"/>
            <a:ext cx="987552" cy="347472"/>
          </a:xfrm>
          <a:prstGeom prst="roundRect">
            <a:avLst>
              <a:gd name="adj" fmla="val 26316"/>
            </a:avLst>
          </a:prstGeom>
          <a:solidFill>
            <a:srgbClr val="6D28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85616" y="411480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K3s</a:t>
            </a:r>
            <a:endParaRPr lang="en-US" sz="1100" dirty="0"/>
          </a:p>
        </p:txBody>
      </p:sp>
      <p:sp>
        <p:nvSpPr>
          <p:cNvPr id="12" name="chip-tecnologia"/>
          <p:cNvSpPr/>
          <p:nvPr/>
        </p:nvSpPr>
        <p:spPr>
          <a:xfrm>
            <a:off x="4864608" y="4114800"/>
            <a:ext cx="987552" cy="347472"/>
          </a:xfrm>
          <a:prstGeom prst="roundRect">
            <a:avLst>
              <a:gd name="adj" fmla="val 26316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4608" y="411480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JMeter</a:t>
            </a:r>
            <a:endParaRPr lang="en-US" sz="1100" dirty="0"/>
          </a:p>
        </p:txBody>
      </p:sp>
      <p:sp>
        <p:nvSpPr>
          <p:cNvPr id="14" name="chip-tecnologia"/>
          <p:cNvSpPr/>
          <p:nvPr/>
        </p:nvSpPr>
        <p:spPr>
          <a:xfrm>
            <a:off x="5943600" y="4114800"/>
            <a:ext cx="987552" cy="347472"/>
          </a:xfrm>
          <a:prstGeom prst="roundRect">
            <a:avLst>
              <a:gd name="adj" fmla="val 26316"/>
            </a:avLst>
          </a:prstGeom>
          <a:solidFill>
            <a:srgbClr val="C241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0" y="411480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Prometheus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4C3"/>
                </a:solidFill>
              </a:rPr>
              <a:t>Principios y Prácticas de Desarrollo de Software Orientado a Objetos</a:t>
            </a:r>
            <a:endParaRPr lang="en-US" sz="1300" dirty="0"/>
          </a:p>
        </p:txBody>
      </p:sp>
      <p:sp>
        <p:nvSpPr>
          <p:cNvPr id="17" name="integrantes"/>
          <p:cNvSpPr txBox="1"/>
          <p:nvPr/>
        </p:nvSpPr>
        <p:spPr>
          <a:xfrm>
            <a:off x="548640" y="340156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AE1"/>
                </a:solidFill>
              </a:rPr>
              <a:t>David Esteban Suarez Lozano · 2221909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DAE1"/>
                </a:solidFill>
              </a:rPr>
              <a:t>Thomas Alejandro Perez Rojas · 2221906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DAE1"/>
                </a:solidFill>
              </a:rPr>
              <a:t>Jesus David Santodomingo Carrascal · 2221922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tarjeta"/>
          <p:cNvSpPr/>
          <p:nvPr/>
        </p:nvSpPr>
        <p:spPr>
          <a:xfrm>
            <a:off x="45720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ero"/>
          <p:cNvSpPr/>
          <p:nvPr/>
        </p:nvSpPr>
        <p:spPr>
          <a:xfrm>
            <a:off x="640080" y="1435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Contexto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Qué pide el proyecto y la matriz de escenarios</a:t>
            </a:r>
            <a:endParaRPr lang="en-US" sz="1300" dirty="0"/>
          </a:p>
        </p:txBody>
      </p:sp>
      <p:sp>
        <p:nvSpPr>
          <p:cNvPr id="8" name="tarjeta"/>
          <p:cNvSpPr/>
          <p:nvPr/>
        </p:nvSpPr>
        <p:spPr>
          <a:xfrm>
            <a:off x="324612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ero"/>
          <p:cNvSpPr/>
          <p:nvPr/>
        </p:nvSpPr>
        <p:spPr>
          <a:xfrm>
            <a:off x="3429000" y="1435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Aplicación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La tienda online y sus endpoints</a:t>
            </a:r>
            <a:endParaRPr lang="en-US" sz="1300" dirty="0"/>
          </a:p>
        </p:txBody>
      </p:sp>
      <p:sp>
        <p:nvSpPr>
          <p:cNvPr id="13" name="tarjeta"/>
          <p:cNvSpPr/>
          <p:nvPr/>
        </p:nvSpPr>
        <p:spPr>
          <a:xfrm>
            <a:off x="603504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ero"/>
          <p:cNvSpPr/>
          <p:nvPr/>
        </p:nvSpPr>
        <p:spPr>
          <a:xfrm>
            <a:off x="6217920" y="1435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Infraestructura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Google Cloud, Docker Compose y K3s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457200" y="2926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ero"/>
          <p:cNvSpPr/>
          <p:nvPr/>
        </p:nvSpPr>
        <p:spPr>
          <a:xfrm>
            <a:off x="640080" y="3127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Metodología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JMeter, 120 corridas y monitoreo</a:t>
            </a:r>
            <a:endParaRPr lang="en-US" sz="1300" dirty="0"/>
          </a:p>
        </p:txBody>
      </p:sp>
      <p:sp>
        <p:nvSpPr>
          <p:cNvPr id="23" name="tarjeta"/>
          <p:cNvSpPr/>
          <p:nvPr/>
        </p:nvSpPr>
        <p:spPr>
          <a:xfrm>
            <a:off x="3246120" y="2926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ero"/>
          <p:cNvSpPr/>
          <p:nvPr/>
        </p:nvSpPr>
        <p:spPr>
          <a:xfrm>
            <a:off x="3429000" y="3127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Resultados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Throughput, escalado y cuello de botella</a:t>
            </a:r>
            <a:endParaRPr lang="en-US" sz="1300" dirty="0"/>
          </a:p>
        </p:txBody>
      </p:sp>
      <p:sp>
        <p:nvSpPr>
          <p:cNvPr id="28" name="tarjeta"/>
          <p:cNvSpPr/>
          <p:nvPr/>
        </p:nvSpPr>
        <p:spPr>
          <a:xfrm>
            <a:off x="6035040" y="2926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numero"/>
          <p:cNvSpPr/>
          <p:nvPr/>
        </p:nvSpPr>
        <p:spPr>
          <a:xfrm>
            <a:off x="6217920" y="3127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Hallazgos y cierre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Sondas, /dev/shm, conclusiones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 · Contexto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Medir qué cambia al orquestar y escalar una aplicación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Lo que pide el proyecto y cómo lo cumplimos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6634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lo resolvimos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 con BD de ≥ 10.000 registros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Tienda FastAPI + PostgreSQL con ~920.000 registros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 con Docker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en nodo1 (línea base)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con 1, 2 y 3 nodos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Clúster K3s en Google Cloud, un nodo más por fase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Distinto número de réplicas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 y 3 réplicas de la API en cada fase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de carga desde otra máquina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JMeter 5.6.3 en vm-jmeter, misma red privada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Monitorización (opcional)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+ Grafana + cAdvisor + node-exporter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en notebook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/ Colab con 8 gráficas y conclusiones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Matriz del experimento</a:t>
            </a:r>
            <a:endParaRPr lang="en-US" sz="2800" dirty="0"/>
          </a:p>
        </p:txBody>
      </p:sp>
      <p:sp>
        <p:nvSpPr>
          <p:cNvPr id="3" name="tarjeta"/>
          <p:cNvSpPr/>
          <p:nvPr/>
        </p:nvSpPr>
        <p:spPr>
          <a:xfrm>
            <a:off x="457200" y="10515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EE7F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6D28D9"/>
                </a:solidFill>
              </a:rPr>
              <a:t>10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escenarios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Docker + 3 nodos × 3 réplicas</a:t>
            </a:r>
            <a:endParaRPr lang="en-US" sz="1200" dirty="0"/>
          </a:p>
        </p:txBody>
      </p:sp>
      <p:sp>
        <p:nvSpPr>
          <p:cNvPr id="7" name="tarjeta"/>
          <p:cNvSpPr/>
          <p:nvPr/>
        </p:nvSpPr>
        <p:spPr>
          <a:xfrm>
            <a:off x="3246120" y="10515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EE7F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143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6D28D9"/>
                </a:solidFill>
              </a:rPr>
              <a:t>120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corridas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4 cargas × 3 repeticiones</a:t>
            </a:r>
            <a:endParaRPr lang="en-US" sz="1200" dirty="0"/>
          </a:p>
        </p:txBody>
      </p:sp>
      <p:sp>
        <p:nvSpPr>
          <p:cNvPr id="11" name="tarjeta"/>
          <p:cNvSpPr/>
          <p:nvPr/>
        </p:nvSpPr>
        <p:spPr>
          <a:xfrm>
            <a:off x="6035040" y="10515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EE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1143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6D28D9"/>
                </a:solidFill>
              </a:rPr>
              <a:t>412 mil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peticiones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enviadas por JMeter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43000"/>
                <a:gridCol w="1143000"/>
                <a:gridCol w="1143000"/>
                <a:gridCol w="2240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réplica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réplicas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réplicas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Cargas (usuarios)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(1 VM)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· 50 · 100 · 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· 1 nodo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· 50 · 100 · 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· 2 nodos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· 50 · 100 · 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· 3 nodos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· 50 · 100 · 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 · La aplicación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Una tienda online con lecturas, búsquedas, escrituras y reportes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Tienda online: FastAPI + PostgreSQL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394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240280"/>
                <a:gridCol w="685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carga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/productos/{id}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 por clave primaria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/productos?categoria=X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 paginada con filtro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/productos/buscar?q=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ILIKE + conteo (toda la tabla)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/pedidos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Escritura transaccional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/reportes/ventas-por-categoria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+ GROUP BY sobre 600 mil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arjeta"/>
          <p:cNvSpPr/>
          <p:nvPr/>
        </p:nvSpPr>
        <p:spPr>
          <a:xfrm>
            <a:off x="6126480" y="105156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3F5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1704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</a:rPr>
              <a:t>100.000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543800" y="11704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productos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8105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</a:rPr>
              <a:t>20.000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18105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clientes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4505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</a:rPr>
              <a:t>200.000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24505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pedidos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30906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</a:rPr>
              <a:t>599.346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30906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items de pedido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675"/>
                </a:solidFill>
              </a:rPr>
              <a:t>Datos generados con Faker y semilla fija: idénticos en todos los escenarios, y la BD se resetea antes de cada uno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Decisiones para una comparación justa</a:t>
            </a:r>
            <a:endParaRPr lang="en-US" sz="2800" dirty="0"/>
          </a:p>
        </p:txBody>
      </p:sp>
      <p:sp>
        <p:nvSpPr>
          <p:cNvPr id="3" name="tarjeta"/>
          <p:cNvSpPr/>
          <p:nvPr/>
        </p:nvSpPr>
        <p:spPr>
          <a:xfrm>
            <a:off x="457200" y="109728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ero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4358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worker por contenedor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La unidad de escalado es la réplica, no el proceso</a:t>
            </a:r>
            <a:endParaRPr lang="en-US" sz="1200" dirty="0"/>
          </a:p>
        </p:txBody>
      </p:sp>
      <p:sp>
        <p:nvSpPr>
          <p:cNvPr id="8" name="tarjeta"/>
          <p:cNvSpPr/>
          <p:nvPr/>
        </p:nvSpPr>
        <p:spPr>
          <a:xfrm>
            <a:off x="2834640" y="109728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ero"/>
          <p:cNvSpPr/>
          <p:nvPr/>
        </p:nvSpPr>
        <p:spPr>
          <a:xfrm>
            <a:off x="301752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75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24358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Mismos límites en todo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API: 1 CPU / 512 MB · PostgreSQL: 1 CPU / 2 GB</a:t>
            </a:r>
            <a:endParaRPr lang="en-US" sz="1200" dirty="0"/>
          </a:p>
        </p:txBody>
      </p:sp>
      <p:sp>
        <p:nvSpPr>
          <p:cNvPr id="13" name="tarjeta"/>
          <p:cNvSpPr/>
          <p:nvPr/>
        </p:nvSpPr>
        <p:spPr>
          <a:xfrm>
            <a:off x="457200" y="27889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ero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93522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Pool acotado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10 + 5 conexiones por réplica: máximo 45 con 3</a:t>
            </a:r>
            <a:endParaRPr lang="en-US" sz="1200" dirty="0"/>
          </a:p>
        </p:txBody>
      </p:sp>
      <p:sp>
        <p:nvSpPr>
          <p:cNvPr id="18" name="tarjeta"/>
          <p:cNvSpPr/>
          <p:nvPr/>
        </p:nvSpPr>
        <p:spPr>
          <a:xfrm>
            <a:off x="2834640" y="27889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ero"/>
          <p:cNvSpPr/>
          <p:nvPr/>
        </p:nvSpPr>
        <p:spPr>
          <a:xfrm>
            <a:off x="3017520" y="2971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175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93008" y="293522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Una sola PostgreSQL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Fija en nodo1: solo se escala la API, como pide la guía</a:t>
            </a:r>
            <a:endParaRPr lang="en-US" sz="1200" dirty="0"/>
          </a:p>
        </p:txBody>
      </p:sp>
      <p:sp>
        <p:nvSpPr>
          <p:cNvPr id="23" name="fondo-codigo"/>
          <p:cNvSpPr/>
          <p:nvPr/>
        </p:nvSpPr>
        <p:spPr>
          <a:xfrm>
            <a:off x="5349240" y="1097280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1720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0" y="11704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</a:rPr>
              <a:t>app/main.py · endpoint costoso (resumido)</a:t>
            </a:r>
            <a:endParaRPr lang="en-US" sz="1000" dirty="0"/>
          </a:p>
        </p:txBody>
      </p:sp>
      <p:sp>
        <p:nvSpPr>
          <p:cNvPr id="25" name="codigo"/>
          <p:cNvSpPr txBox="1"/>
          <p:nvPr/>
        </p:nvSpPr>
        <p:spPr>
          <a:xfrm>
            <a:off x="5486400" y="14173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@app.get("/productos/buscar")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buscar(q: str, ...):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= f"%{q}%"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filtro = (nombre.ilike(p)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 descripcion.ilike(p))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cuenta TODA la tabla: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= await s.scalar(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select(count()).where(filtro))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filas = await s.scalars(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select(Producto).where(filtro)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.limit(20))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{"total": total, ...}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 · Infraestructura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Google Cloud, Docker Compose y Kubernetes (K3s)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 VMs en la misma red privada</a:t>
            </a:r>
            <a:endParaRPr lang="en-US" sz="2800" dirty="0"/>
          </a:p>
        </p:txBody>
      </p:sp>
      <p:pic>
        <p:nvPicPr>
          <p:cNvPr id="3" name="Image 0" descr="vm-jmeter envía HTTP a nodo1; nodo1, nodo2 y nodo3 forman el clúster K3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020" y="960120"/>
            <a:ext cx="8217961" cy="2788920"/>
          </a:xfrm>
          <a:prstGeom prst="rect">
            <a:avLst/>
          </a:prstGeom>
        </p:spPr>
      </p:pic>
      <p:sp>
        <p:nvSpPr>
          <p:cNvPr id="4" name="tarjeta"/>
          <p:cNvSpPr/>
          <p:nvPr/>
        </p:nvSpPr>
        <p:spPr>
          <a:xfrm>
            <a:off x="457200" y="37947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3F5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n2d-standard-2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2 vCPU AMD · 8 GB · no burstable (como D2as_v5)</a:t>
            </a:r>
            <a:endParaRPr lang="en-US" sz="1100" dirty="0"/>
          </a:p>
        </p:txBody>
      </p:sp>
      <p:sp>
        <p:nvSpPr>
          <p:cNvPr id="7" name="tarjeta"/>
          <p:cNvSpPr/>
          <p:nvPr/>
        </p:nvSpPr>
        <p:spPr>
          <a:xfrm>
            <a:off x="3246120" y="37947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3F5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383280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JMeter aparte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Otra VM de la misma red: latencia baja y estable</a:t>
            </a:r>
            <a:endParaRPr lang="en-US" sz="1100" dirty="0"/>
          </a:p>
        </p:txBody>
      </p:sp>
      <p:sp>
        <p:nvSpPr>
          <p:cNvPr id="10" name="tarjeta"/>
          <p:cNvSpPr/>
          <p:nvPr/>
        </p:nvSpPr>
        <p:spPr>
          <a:xfrm>
            <a:off x="6035040" y="37947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3F5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172200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De Azure a Google Cloud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Azure for Students no tenía cuota (6 vCPU, DASv5 = 0)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Fase 1: Docker Compose</a:t>
            </a:r>
            <a:endParaRPr lang="en-US" sz="2800" dirty="0"/>
          </a:p>
        </p:txBody>
      </p:sp>
      <p:sp>
        <p:nvSpPr>
          <p:cNvPr id="3" name="fondo-codigo"/>
          <p:cNvSpPr/>
          <p:nvPr/>
        </p:nvSpPr>
        <p:spPr>
          <a:xfrm>
            <a:off x="457200" y="1051560"/>
            <a:ext cx="4937760" cy="3520440"/>
          </a:xfrm>
          <a:prstGeom prst="roundRect">
            <a:avLst>
              <a:gd name="adj" fmla="val 2078"/>
            </a:avLst>
          </a:prstGeom>
          <a:solidFill>
            <a:srgbClr val="1720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2471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</a:rPr>
              <a:t>docker-compose.yml (resumido)</a:t>
            </a:r>
            <a:endParaRPr lang="en-US" sz="1000" dirty="0"/>
          </a:p>
        </p:txBody>
      </p:sp>
      <p:sp>
        <p:nvSpPr>
          <p:cNvPr id="5" name="codigo"/>
          <p:cNvSpPr txBox="1"/>
          <p:nvPr/>
        </p:nvSpPr>
        <p:spPr>
          <a:xfrm>
            <a:off x="594360" y="137160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cpus: "1.0"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mem_limit: 2g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["CMD-SHELL", "pg_isready -U app -d tienda"]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ghcr.io/tapr16/pf-api:1.0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DATABASE_URL: postgresql+asyncpg://app:...@db:5432/tienda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DB_POOL_SIZE: "10"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["8000:8000"]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{ db: { condition: service_healthy }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cpus: "1.0"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mem_limit: 512m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14300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Imagen publicada en GHCR por un GitHub Action: la misma en todas las fases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Monitoreo aparte: Prometheus, Grafana, cAdvisor y node-exporter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6D28D9"/>
                </a:solidFill>
              </a:rPr>
              <a:t>Docker 29 + cAdvisor: hubo que volver al almacenamiento overlay2 para ver los contenedores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Fases 2-4: Kubernetes con K3s</a:t>
            </a:r>
            <a:endParaRPr lang="en-US" sz="2800" dirty="0"/>
          </a:p>
        </p:txBody>
      </p:sp>
      <p:sp>
        <p:nvSpPr>
          <p:cNvPr id="3" name="fondo-codigo"/>
          <p:cNvSpPr/>
          <p:nvPr/>
        </p:nvSpPr>
        <p:spPr>
          <a:xfrm>
            <a:off x="457200" y="1051560"/>
            <a:ext cx="5120640" cy="3520440"/>
          </a:xfrm>
          <a:prstGeom prst="roundRect">
            <a:avLst>
              <a:gd name="adj" fmla="val 2078"/>
            </a:avLst>
          </a:prstGeom>
          <a:solidFill>
            <a:srgbClr val="1720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2471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</a:rPr>
              <a:t>k8s/04-api-deployment.yaml (resumido)</a:t>
            </a:r>
            <a:endParaRPr lang="en-US" sz="1000" dirty="0"/>
          </a:p>
        </p:txBody>
      </p:sp>
      <p:sp>
        <p:nvSpPr>
          <p:cNvPr id="5" name="codigo"/>
          <p:cNvSpPr txBox="1"/>
          <p:nvPr/>
        </p:nvSpPr>
        <p:spPr>
          <a:xfrm>
            <a:off x="594360" y="13716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 { name: api, namespace: proyecto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1          # se escala a 2 y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topologySpreadConstraints: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{ maxSkew: 1, topologyKey: kubernetes.io/hostname,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whenUnsatisfiable: ScheduleAnyway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ghcr.io/tapr16/pf-api:1.0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resources: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requests: { cpu: 250m, memory: 512Mi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limits:   { cpu: "1",  memory: 512Mi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readinessProbe: { httpGet: { path: /health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timeoutSeconds: 30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livenessProbe:  { tcpSocket: { port: 8000 } }</a:t>
            </a:r>
            <a:endParaRPr lang="en-US" sz="1000" dirty="0"/>
          </a:p>
        </p:txBody>
      </p:sp>
      <p:sp>
        <p:nvSpPr>
          <p:cNvPr id="6" name="numero"/>
          <p:cNvSpPr/>
          <p:nvPr/>
        </p:nvSpPr>
        <p:spPr>
          <a:xfrm>
            <a:off x="5806440" y="10972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064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060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StatefulSet PostgreSQL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353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Fijo en nodo1 con nodeSelector rol=db</a:t>
            </a:r>
            <a:endParaRPr lang="en-US" sz="1100" dirty="0"/>
          </a:p>
        </p:txBody>
      </p:sp>
      <p:sp>
        <p:nvSpPr>
          <p:cNvPr id="10" name="numero"/>
          <p:cNvSpPr/>
          <p:nvPr/>
        </p:nvSpPr>
        <p:spPr>
          <a:xfrm>
            <a:off x="580644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064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9293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NodePort 30080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221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Entrada única por nodo1; kube-proxy reparte</a:t>
            </a:r>
            <a:endParaRPr lang="en-US" sz="1100" dirty="0"/>
          </a:p>
        </p:txBody>
      </p:sp>
      <p:sp>
        <p:nvSpPr>
          <p:cNvPr id="14" name="numero"/>
          <p:cNvSpPr/>
          <p:nvPr/>
        </p:nvSpPr>
        <p:spPr>
          <a:xfrm>
            <a:off x="5806440" y="2834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064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7980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Job seed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090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Resetea la BD antes de cada escenario</a:t>
            </a:r>
            <a:endParaRPr lang="en-US" sz="1100" dirty="0"/>
          </a:p>
        </p:txBody>
      </p:sp>
      <p:sp>
        <p:nvSpPr>
          <p:cNvPr id="18" name="numero"/>
          <p:cNvSpPr/>
          <p:nvPr/>
        </p:nvSpPr>
        <p:spPr>
          <a:xfrm>
            <a:off x="5806440" y="3703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064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6667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Unión de nodos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959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k3s agent con el token de nodo1 + rollout restart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Monitorización con Prometheus y Grafana</a:t>
            </a:r>
            <a:endParaRPr lang="en-US" sz="2800" dirty="0"/>
          </a:p>
        </p:txBody>
      </p:sp>
      <p:pic>
        <p:nvPicPr>
          <p:cNvPr id="3" name="Image 0" descr="Grafana: CPU por pod con 3 réplicas; PostgreSQL arriba y las réplicas casi en c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120640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Grafana · 1 nodo, 3 réplicas, 200 usuarios: CPU por pod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09728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kube-prometheus-stack con Helm, fijo en nodo1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node-exporter en cada nodo y ServiceMonitor para /metrics de la API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Métricas exportadas a CSV por corrida para el notebook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6D28D9"/>
                </a:solidFill>
              </a:rPr>
              <a:t>Grafana en solo lectura y por túnel SSH: nada expuesto a internet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· Metodología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Las mismas pruebas, con las mismas reglas, en cada escenario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Plan de carga con JMeter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3840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051560"/>
          <a:ext cx="4206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 concurrentes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· 50 · 100 · 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por corrida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s (30 s de ramp-up)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por nivel de carga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Calentamiento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s, descartado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 entre corridas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analizar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quitan los primeros 30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Aserción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200 o 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Una fase de Kubernetes, automatizada</a:t>
            </a:r>
            <a:endParaRPr lang="en-US" sz="2800" dirty="0"/>
          </a:p>
        </p:txBody>
      </p:sp>
      <p:sp>
        <p:nvSpPr>
          <p:cNvPr id="3" name="tarjeta"/>
          <p:cNvSpPr/>
          <p:nvPr/>
        </p:nvSpPr>
        <p:spPr>
          <a:xfrm>
            <a:off x="457200" y="1188720"/>
            <a:ext cx="1517904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ero"/>
          <p:cNvSpPr/>
          <p:nvPr/>
        </p:nvSpPr>
        <p:spPr>
          <a:xfrm>
            <a:off x="1024128" y="1024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4128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Resetear BD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01952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Job seed: mismos datos</a:t>
            </a:r>
            <a:endParaRPr lang="en-US" sz="1100" dirty="0"/>
          </a:p>
        </p:txBody>
      </p:sp>
      <p:sp>
        <p:nvSpPr>
          <p:cNvPr id="8" name="tarjeta"/>
          <p:cNvSpPr/>
          <p:nvPr/>
        </p:nvSpPr>
        <p:spPr>
          <a:xfrm>
            <a:off x="2139696" y="1188720"/>
            <a:ext cx="1517904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ero"/>
          <p:cNvSpPr/>
          <p:nvPr/>
        </p:nvSpPr>
        <p:spPr>
          <a:xfrm>
            <a:off x="2706624" y="1024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06624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15087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Escalar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1901952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1, 2 o 3 réplicas</a:t>
            </a:r>
            <a:endParaRPr lang="en-US" sz="1100" dirty="0"/>
          </a:p>
        </p:txBody>
      </p:sp>
      <p:sp>
        <p:nvSpPr>
          <p:cNvPr id="13" name="tarjeta"/>
          <p:cNvSpPr/>
          <p:nvPr/>
        </p:nvSpPr>
        <p:spPr>
          <a:xfrm>
            <a:off x="3822192" y="1188720"/>
            <a:ext cx="1517904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ero"/>
          <p:cNvSpPr/>
          <p:nvPr/>
        </p:nvSpPr>
        <p:spPr>
          <a:xfrm>
            <a:off x="4389120" y="1024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8912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15087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Capturar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1901952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kubectl get pods -o wide</a:t>
            </a:r>
            <a:endParaRPr lang="en-US" sz="1100" dirty="0"/>
          </a:p>
        </p:txBody>
      </p:sp>
      <p:sp>
        <p:nvSpPr>
          <p:cNvPr id="18" name="tarjeta"/>
          <p:cNvSpPr/>
          <p:nvPr/>
        </p:nvSpPr>
        <p:spPr>
          <a:xfrm>
            <a:off x="5504688" y="1188720"/>
            <a:ext cx="1517904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ero"/>
          <p:cNvSpPr/>
          <p:nvPr/>
        </p:nvSpPr>
        <p:spPr>
          <a:xfrm>
            <a:off x="6071616" y="1024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71616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96128" y="15087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14416" y="1901952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run_scenario.sh: 12 corridas</a:t>
            </a:r>
            <a:endParaRPr lang="en-US" sz="1100" dirty="0"/>
          </a:p>
        </p:txBody>
      </p:sp>
      <p:sp>
        <p:nvSpPr>
          <p:cNvPr id="23" name="tarjeta"/>
          <p:cNvSpPr/>
          <p:nvPr/>
        </p:nvSpPr>
        <p:spPr>
          <a:xfrm>
            <a:off x="7187184" y="1188720"/>
            <a:ext cx="1517904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ero"/>
          <p:cNvSpPr/>
          <p:nvPr/>
        </p:nvSpPr>
        <p:spPr>
          <a:xfrm>
            <a:off x="7754112" y="1024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54112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78624" y="15087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Exportar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1901952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Prometheus → CSV</a:t>
            </a:r>
            <a:endParaRPr lang="en-US" sz="1100" dirty="0"/>
          </a:p>
        </p:txBody>
      </p:sp>
      <p:sp>
        <p:nvSpPr>
          <p:cNvPr id="28" name="fondo-codigo"/>
          <p:cNvSpPr/>
          <p:nvPr/>
        </p:nvSpPr>
        <p:spPr>
          <a:xfrm>
            <a:off x="457200" y="28803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720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295351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</a:rPr>
              <a:t>vm-jmeter · jmeter/orquestar_fase.sh</a:t>
            </a:r>
            <a:endParaRPr lang="en-US" sz="1000" dirty="0"/>
          </a:p>
        </p:txBody>
      </p:sp>
      <p:sp>
        <p:nvSpPr>
          <p:cNvPr id="30" name="codigo"/>
          <p:cNvSpPr txBox="1"/>
          <p:nvPr/>
        </p:nvSpPr>
        <p:spPr>
          <a:xfrm>
            <a:off x="594360" y="320040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./orquestar_fase.sh 1      # k8s-1n-1r, k8s-1n-2r, k8s-1n-3r  (~2 h 20 min)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unir nodo2 al clúster + kubectl rollout restart deployment/api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./orquestar_fase.sh 2      # k8s-2n-1r, k8s-2n-2r, k8s-2n-3r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./orquestar_fase.sh 3      # k8s-3n-1r, k8s-3n-2r, k8s-3n-3r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</a:rPr>
              <a:t>Validez: la CPU de vm-jmeter nunca pasó del 5 %, así que el generador de carga no limitó ninguna medición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 · Resultados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120 corridas: qué mejora y qué no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Throughput con 200 usuarios: los 10 escenarios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4864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"/>
          <p:cNvSpPr/>
          <p:nvPr/>
        </p:nvSpPr>
        <p:spPr>
          <a:xfrm>
            <a:off x="6126480" y="105156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EEE7F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675"/>
                </a:solidFill>
              </a:rPr>
              <a:t>Docker Compose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463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6B7280"/>
                </a:solidFill>
              </a:rPr>
              <a:t>14,8 req/s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675"/>
                </a:solidFill>
              </a:rPr>
              <a:t>Mejor escenario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</a:rPr>
              <a:t>23,6 req/s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3 nodos · 3 réplicas · +59 % vs. Docker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3611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</a:rPr>
              <a:t>Las réplicas mueven el resultado; los nodos casi 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Saturación: el throughput se aplana pronto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4206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960120"/>
          <a:ext cx="41148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Escalar réplicas: ~1,5× en vez de 3×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47548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40680" y="1097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×1,35 / ×1,54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4068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con 2 y 3 réplicas (ideal: ×2 y ×3)</a:t>
            </a:r>
            <a:endParaRPr lang="en-US" sz="1200" dirty="0"/>
          </a:p>
        </p:txBody>
      </p:sp>
      <p:sp>
        <p:nvSpPr>
          <p:cNvPr id="6" name="tarjeta"/>
          <p:cNvSpPr/>
          <p:nvPr/>
        </p:nvSpPr>
        <p:spPr>
          <a:xfrm>
            <a:off x="5440680" y="2377440"/>
            <a:ext cx="3246120" cy="2148840"/>
          </a:xfrm>
          <a:prstGeom prst="roundRect">
            <a:avLst>
              <a:gd name="adj" fmla="val 4255"/>
            </a:avLst>
          </a:prstGeom>
          <a:solidFill>
            <a:srgbClr val="EEE7F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596128" y="24688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¿Por qué sube algo?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</a:rPr>
              <a:t>Más réplicas = más conexiones simultáneas a PostgreSQL (15 → 30 → 45).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F2A37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Pero con 2-3 réplicas falla el 70-85 % de los reportes: parte de la mejora es trabajo pesado que la BD deja de hacer.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Agregar nodos no ayuda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40233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Prometheus: nodo1 cerca del 60 % de CPU y nodo2 y nodo3 por debajo del 5 % durante toda la f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859" y="960120"/>
            <a:ext cx="3523082" cy="2514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Prometheus · toda la fase de 3 réplicas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72000" y="3840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</a:rPr>
              <a:t>Con las mismas réplicas, pasar de 1 a 3 nodos cambia el throughput ≤ 5 %: la capacidad nueva queda ociosa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El cuello de botella es PostgreSQL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120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051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</a:rPr>
              <a:t>~0,9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núcleos usa PostgreSQL en todos los escenarios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194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&lt; 0,11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núcleos usan todas las réplicas de la API juntas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4290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PostgreSQL además sufre throttling constante (~9 periodos limitados/s): choca con su límite todo el tiempo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Docker vs. Kubernetes: casi sin costo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120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143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D28D9"/>
                </a:solidFill>
              </a:rPr>
              <a:t>−1,5 a −3,5 %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de throughput en Kubernetes respecto a Docker, con el mismo hardware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5146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Mismos tiempos de respuesta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Errores &lt; 1 % en ambos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cambio: escalado, autorreparación y reparto de carga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Demostración: escalado y carga en vivo</a:t>
            </a:r>
            <a:endParaRPr lang="en-US" sz="2800" dirty="0"/>
          </a:p>
        </p:txBody>
      </p:sp>
      <p:pic>
        <p:nvPicPr>
          <p:cNvPr id="3" name="Image 0" descr="kubectl scale de 1 a 3 réplicas: los pods quedan en nodo2, nodo3 y nodo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7419"/>
            <a:ext cx="4846320" cy="17027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24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kubectl scale --replicas=3: una réplica en cada nodo</a:t>
            </a:r>
            <a:endParaRPr lang="en-US" sz="1000" dirty="0"/>
          </a:p>
        </p:txBody>
      </p:sp>
      <p:pic>
        <p:nvPicPr>
          <p:cNvPr id="5" name="Image 1" descr="kubectl top durante la carga: nodo1 al 57 % y postgres-0 con 999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56" y="3017520"/>
            <a:ext cx="3923607" cy="1463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98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kubectl top con 100 usuarios: postgres-0 usa 999m (1 núcleo)</a:t>
            </a:r>
            <a:endParaRPr lang="en-US" sz="1000" dirty="0"/>
          </a:p>
        </p:txBody>
      </p:sp>
      <p:sp>
        <p:nvSpPr>
          <p:cNvPr id="7" name="tarjeta"/>
          <p:cNvSpPr/>
          <p:nvPr/>
        </p:nvSpPr>
        <p:spPr>
          <a:xfrm>
            <a:off x="5577840" y="960120"/>
            <a:ext cx="3108960" cy="3566160"/>
          </a:xfrm>
          <a:prstGeom prst="roundRect">
            <a:avLst>
              <a:gd name="adj" fmla="val 2941"/>
            </a:avLst>
          </a:prstGeom>
          <a:solidFill>
            <a:srgbClr val="EEE7FD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760720" y="109728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</a:rPr>
              <a:t>Video del proyecto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10 min, sin audio, generado con OBS y una demo automática: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F2A37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</a:rPr>
              <a:t>Parte A · Docker Compose, API y JMeter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</a:rPr>
              <a:t>Parte B · K3s con 3 nodos, escalado, kubectl top, Grafana y resultados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F2A37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</a:rPr>
              <a:t>docs/video/Video-Proyecto-Final.mp4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6 · Hallazgos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Lo que aprendimos al medir de verdad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Las sondas por defecto tumbaban el servicio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(k8s-1n-1r)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us.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us.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us.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Sondas por defecto (timeout 1 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19,2 %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87,2 %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68,9 %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 con 10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6B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Sondas finales (usadas)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% de peticiones con error. Las corridas descartadas se guardan en results_descartados/</a:t>
            </a:r>
            <a:endParaRPr lang="en-US" sz="1000" dirty="0"/>
          </a:p>
        </p:txBody>
      </p:sp>
      <p:sp>
        <p:nvSpPr>
          <p:cNvPr id="5" name="fondo-codigo"/>
          <p:cNvSpPr/>
          <p:nvPr/>
        </p:nvSpPr>
        <p:spPr>
          <a:xfrm>
            <a:off x="457200" y="329184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1720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33649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</a:rPr>
              <a:t>Corrección</a:t>
            </a:r>
            <a:endParaRPr lang="en-US" sz="1000" dirty="0"/>
          </a:p>
        </p:txBody>
      </p:sp>
      <p:sp>
        <p:nvSpPr>
          <p:cNvPr id="7" name="codigo"/>
          <p:cNvSpPr txBox="1"/>
          <p:nvPr/>
        </p:nvSpPr>
        <p:spPr>
          <a:xfrm>
            <a:off x="594360" y="3611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readinessProbe:            # ¿recibe tráfico?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httpGet: { path: /health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timeoutSeconds: 30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failureThreshold: 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livenessProbe:             # ¿está vivo?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tcpSocket: { port: 8000 }</a:t>
            </a:r>
            <a:endParaRPr lang="en-US" sz="1050" dirty="0"/>
          </a:p>
        </p:txBody>
      </p:sp>
      <p:sp>
        <p:nvSpPr>
          <p:cNvPr id="8" name="numero"/>
          <p:cNvSpPr/>
          <p:nvPr/>
        </p:nvSpPr>
        <p:spPr>
          <a:xfrm>
            <a:off x="5852160" y="1097280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521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078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Qué pasaba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13898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Bajo carga /health tardaba &gt; 1 s (espera a la BD)</a:t>
            </a:r>
            <a:endParaRPr lang="en-US" sz="1200" dirty="0"/>
          </a:p>
        </p:txBody>
      </p:sp>
      <p:sp>
        <p:nvSpPr>
          <p:cNvPr id="12" name="numero"/>
          <p:cNvSpPr/>
          <p:nvPr/>
        </p:nvSpPr>
        <p:spPr>
          <a:xfrm>
            <a:off x="5852160" y="2267712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5216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2494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Efecto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2560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Kubernetes reiniciaba la API en plena prueba: CrashLoopBackOff, 9 reinicios</a:t>
            </a:r>
            <a:endParaRPr lang="en-US" sz="1200" dirty="0"/>
          </a:p>
        </p:txBody>
      </p:sp>
      <p:sp>
        <p:nvSpPr>
          <p:cNvPr id="16" name="numero"/>
          <p:cNvSpPr/>
          <p:nvPr/>
        </p:nvSpPr>
        <p:spPr>
          <a:xfrm>
            <a:off x="5852160" y="3438144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85216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34198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Lección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37307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La sonda debe medir si el proceso vive, no si está rápido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Más réplicas agotan /dev/shm en PostgreSQL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4206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ondo-codigo"/>
          <p:cNvSpPr/>
          <p:nvPr/>
        </p:nvSpPr>
        <p:spPr>
          <a:xfrm>
            <a:off x="4846320" y="10515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17202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983480" y="11247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</a:rPr>
              <a:t>log de PostgreSQL</a:t>
            </a:r>
            <a:endParaRPr lang="en-US" sz="1000" dirty="0"/>
          </a:p>
        </p:txBody>
      </p:sp>
      <p:sp>
        <p:nvSpPr>
          <p:cNvPr id="6" name="codigo"/>
          <p:cNvSpPr txBox="1"/>
          <p:nvPr/>
        </p:nvSpPr>
        <p:spPr>
          <a:xfrm>
            <a:off x="4983480" y="1371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could not resize shared memory segment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"/PostgreSQL.976963026" to 4194304 bytes: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No space left on device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240280"/>
            <a:ext cx="38404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 reporte usa parallel workers, que reservan memoria en /dev/shm (64 MB por defecto)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 réplica: ≤ 15 conexiones, pocos reportes a la vez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 réplicas: ≤ 45 conexiones y la memoria se agota → 500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6D28D9"/>
                </a:solidFill>
              </a:rPr>
              <a:t>Escalar la API traslada la presión a la base de datos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Otros retos técnicos</a:t>
            </a:r>
            <a:endParaRPr lang="en-US" sz="2800" dirty="0"/>
          </a:p>
        </p:txBody>
      </p:sp>
      <p:sp>
        <p:nvSpPr>
          <p:cNvPr id="3" name="tarjeta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ero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Cuota de Azure for Students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37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6 vCPU y 0 para DASv5: migramos a Google Cloud con apagado automático de facturación</a:t>
            </a:r>
            <a:endParaRPr lang="en-US" sz="1300" dirty="0"/>
          </a:p>
        </p:txBody>
      </p:sp>
      <p:sp>
        <p:nvSpPr>
          <p:cNvPr id="8" name="tarjeta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ero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cAdvisor no veía los contenedores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737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Docker 29 usa el almacén de containerd: volvimos a overlay2</a:t>
            </a:r>
            <a:endParaRPr lang="en-US" sz="1300" dirty="0"/>
          </a:p>
        </p:txBody>
      </p:sp>
      <p:sp>
        <p:nvSpPr>
          <p:cNvPr id="13" name="tarjeta"/>
          <p:cNvSpPr/>
          <p:nvPr/>
        </p:nvSpPr>
        <p:spPr>
          <a:xfrm>
            <a:off x="457200" y="27889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ero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535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Sin capacidad en la zona 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29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Stockout de n2d en us-central1-a: script reintentable en la zona c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4663440" y="27889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ero"/>
          <p:cNvSpPr/>
          <p:nvPr/>
        </p:nvSpPr>
        <p:spPr>
          <a:xfrm>
            <a:off x="4846320" y="2971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9535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IPs públicas que cambian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429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Llaves SSH por nombre de VM y JMeter atacando la IP privada fija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Respuestas a las preguntas del proyecto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7548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¿Crece el throughput con más réplicas?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pero no lineal: ×1,36 y ×1,55 (ideal ×2 y ×3)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¿Cuándo se satura?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réplica: desde 10 usuarios · 2-3 réplicas: desde 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¿3 réplicas en 1 nodo = en 3 nodos?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Casi: 22,7 vs. 23,6 req/s (+4 %)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¿La BD es el cuello de botella?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Sí: ~0,9 de 1 núcleo con throttling; API &lt; 0,11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¿Overhead de K8s vs. Docker?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Mínimo: entre −1,5 % y −3,5 %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¿Agregar nodos ayuda?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 una sola BD: ≤ 5 % y nodos ociosos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endpoint se degrada más?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Lecturas simples: de ~20 ms a ~12,7 s (×600)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Recomendaciones</a:t>
            </a:r>
            <a:endParaRPr lang="en-US" sz="2800" dirty="0"/>
          </a:p>
        </p:txBody>
      </p:sp>
      <p:sp>
        <p:nvSpPr>
          <p:cNvPr id="3" name="tarjeta"/>
          <p:cNvSpPr/>
          <p:nvPr/>
        </p:nvSpPr>
        <p:spPr>
          <a:xfrm>
            <a:off x="45720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3F5F8"/>
          </a:solidFill>
          <a:ln/>
        </p:spPr>
      </p:sp>
      <p:sp>
        <p:nvSpPr>
          <p:cNvPr id="4" name="numero"/>
          <p:cNvSpPr/>
          <p:nvPr/>
        </p:nvSpPr>
        <p:spPr>
          <a:xfrm>
            <a:off x="621792" y="1380744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380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Optimizar la BD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721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Índice pg_trgm para la búsqueda; vista materializada o Redis para el reporte</a:t>
            </a:r>
            <a:endParaRPr lang="en-US" sz="1200" dirty="0"/>
          </a:p>
        </p:txBody>
      </p:sp>
      <p:sp>
        <p:nvSpPr>
          <p:cNvPr id="8" name="tarjeta"/>
          <p:cNvSpPr/>
          <p:nvPr/>
        </p:nvSpPr>
        <p:spPr>
          <a:xfrm>
            <a:off x="466344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3F5F8"/>
          </a:solidFill>
          <a:ln/>
        </p:spPr>
      </p:sp>
      <p:sp>
        <p:nvSpPr>
          <p:cNvPr id="9" name="numero"/>
          <p:cNvSpPr/>
          <p:nvPr/>
        </p:nvSpPr>
        <p:spPr>
          <a:xfrm>
            <a:off x="4828032" y="1380744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380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Escalar la BD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4721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Más CPU o réplicas de lectura; PgBouncer para controlar las conexiones</a:t>
            </a:r>
            <a:endParaRPr lang="en-US" sz="1200" dirty="0"/>
          </a:p>
        </p:txBody>
      </p:sp>
      <p:sp>
        <p:nvSpPr>
          <p:cNvPr id="13" name="tarjeta"/>
          <p:cNvSpPr/>
          <p:nvPr/>
        </p:nvSpPr>
        <p:spPr>
          <a:xfrm>
            <a:off x="457200" y="224028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3F5F8"/>
          </a:solidFill>
          <a:ln/>
        </p:spPr>
      </p:sp>
      <p:sp>
        <p:nvSpPr>
          <p:cNvPr id="14" name="numero"/>
          <p:cNvSpPr/>
          <p:nvPr/>
        </p:nvSpPr>
        <p:spPr>
          <a:xfrm>
            <a:off x="621792" y="2569464"/>
            <a:ext cx="384048" cy="384048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/dev/shm más grande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660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emptyDir con medium: Memory (K8s) o shm_size (Compose)</a:t>
            </a:r>
            <a:endParaRPr lang="en-US" sz="1200" dirty="0"/>
          </a:p>
        </p:txBody>
      </p:sp>
      <p:sp>
        <p:nvSpPr>
          <p:cNvPr id="18" name="tarjeta"/>
          <p:cNvSpPr/>
          <p:nvPr/>
        </p:nvSpPr>
        <p:spPr>
          <a:xfrm>
            <a:off x="4663440" y="224028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3F5F8"/>
          </a:solidFill>
          <a:ln/>
        </p:spPr>
      </p:sp>
      <p:sp>
        <p:nvSpPr>
          <p:cNvPr id="19" name="numero"/>
          <p:cNvSpPr/>
          <p:nvPr/>
        </p:nvSpPr>
        <p:spPr>
          <a:xfrm>
            <a:off x="4828032" y="2569464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28032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Sondas tolerantes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2660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Liveness por TCP y readiness con timeouts de la latencia real</a:t>
            </a:r>
            <a:endParaRPr lang="en-US" sz="1200" dirty="0"/>
          </a:p>
        </p:txBody>
      </p:sp>
      <p:sp>
        <p:nvSpPr>
          <p:cNvPr id="23" name="tarjeta"/>
          <p:cNvSpPr/>
          <p:nvPr/>
        </p:nvSpPr>
        <p:spPr>
          <a:xfrm>
            <a:off x="457200" y="3429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3F5F8"/>
          </a:solidFill>
          <a:ln/>
        </p:spPr>
      </p:sp>
      <p:sp>
        <p:nvSpPr>
          <p:cNvPr id="24" name="numero"/>
          <p:cNvSpPr/>
          <p:nvPr/>
        </p:nvSpPr>
        <p:spPr>
          <a:xfrm>
            <a:off x="621792" y="3758184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HPA solo si la API limita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38496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Con la API en &lt; 0,11 núcleos no tiene sentido autoescalar</a:t>
            </a:r>
            <a:endParaRPr lang="en-US" sz="1200" dirty="0"/>
          </a:p>
        </p:txBody>
      </p:sp>
      <p:sp>
        <p:nvSpPr>
          <p:cNvPr id="28" name="tarjeta"/>
          <p:cNvSpPr/>
          <p:nvPr/>
        </p:nvSpPr>
        <p:spPr>
          <a:xfrm>
            <a:off x="4663440" y="3429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3F5F8"/>
          </a:solidFill>
          <a:ln/>
        </p:spPr>
      </p:sp>
      <p:sp>
        <p:nvSpPr>
          <p:cNvPr id="29" name="numero"/>
          <p:cNvSpPr/>
          <p:nvPr/>
        </p:nvSpPr>
        <p:spPr>
          <a:xfrm>
            <a:off x="4828032" y="3758184"/>
            <a:ext cx="384048" cy="3840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28032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Ingress / balanceador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38496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No depender del NodePort de un solo nodo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Entregables</a:t>
            </a:r>
            <a:endParaRPr lang="en-US" sz="2800" dirty="0"/>
          </a:p>
        </p:txBody>
      </p:sp>
      <p:sp>
        <p:nvSpPr>
          <p:cNvPr id="3" name="tarjeta"/>
          <p:cNvSpPr/>
          <p:nvPr/>
        </p:nvSpPr>
        <p:spPr>
          <a:xfrm>
            <a:off x="457200" y="105156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3F5F8"/>
          </a:solidFill>
          <a:ln/>
        </p:spPr>
      </p:sp>
      <p:sp>
        <p:nvSpPr>
          <p:cNvPr id="4" name="numero"/>
          <p:cNvSpPr/>
          <p:nvPr/>
        </p:nvSpPr>
        <p:spPr>
          <a:xfrm>
            <a:off x="621792" y="1234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2471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Repositorio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12471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github.com/Tapr16/Proyecto-Final-Principios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12471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Código, manifiestos, scripts, resultados y README</a:t>
            </a:r>
            <a:endParaRPr lang="en-US" sz="1200" dirty="0"/>
          </a:p>
        </p:txBody>
      </p:sp>
      <p:sp>
        <p:nvSpPr>
          <p:cNvPr id="9" name="tarjeta"/>
          <p:cNvSpPr/>
          <p:nvPr/>
        </p:nvSpPr>
        <p:spPr>
          <a:xfrm>
            <a:off x="457200" y="192024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3F5F8"/>
          </a:solidFill>
          <a:ln/>
        </p:spPr>
      </p:sp>
      <p:sp>
        <p:nvSpPr>
          <p:cNvPr id="10" name="numero"/>
          <p:cNvSpPr/>
          <p:nvPr/>
        </p:nvSpPr>
        <p:spPr>
          <a:xfrm>
            <a:off x="621792" y="2103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99339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Notebook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99339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notebook/analisis.ipynb (abre en Colab)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199339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Carga de las 120 corridas, 8 gráficas y análisis</a:t>
            </a:r>
            <a:endParaRPr lang="en-US" sz="1200" dirty="0"/>
          </a:p>
        </p:txBody>
      </p:sp>
      <p:sp>
        <p:nvSpPr>
          <p:cNvPr id="15" name="tarjeta"/>
          <p:cNvSpPr/>
          <p:nvPr/>
        </p:nvSpPr>
        <p:spPr>
          <a:xfrm>
            <a:off x="457200" y="278892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3F5F8"/>
          </a:solidFill>
          <a:ln/>
        </p:spPr>
      </p:sp>
      <p:sp>
        <p:nvSpPr>
          <p:cNvPr id="16" name="numero"/>
          <p:cNvSpPr/>
          <p:nvPr/>
        </p:nvSpPr>
        <p:spPr>
          <a:xfrm>
            <a:off x="621792" y="2971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86207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Video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286207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docs/video/Video-Proyecto-Final.mp4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286207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10 min: Docker y Kubernetes funcionando en vivo</a:t>
            </a:r>
            <a:endParaRPr lang="en-US" sz="1200" dirty="0"/>
          </a:p>
        </p:txBody>
      </p:sp>
      <p:sp>
        <p:nvSpPr>
          <p:cNvPr id="21" name="tarjeta"/>
          <p:cNvSpPr/>
          <p:nvPr/>
        </p:nvSpPr>
        <p:spPr>
          <a:xfrm>
            <a:off x="457200" y="365760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3F5F8"/>
          </a:solidFill>
          <a:ln/>
        </p:spPr>
      </p:sp>
      <p:sp>
        <p:nvSpPr>
          <p:cNvPr id="22" name="numero"/>
          <p:cNvSpPr/>
          <p:nvPr/>
        </p:nvSpPr>
        <p:spPr>
          <a:xfrm>
            <a:off x="621792" y="3840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7307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Informe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373075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PDF con instrucciones de ejecución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897880" y="373075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Requisitos, pasos y cómo ver el notebook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El cuello de botella es la base de datos, no la aplicación: ni Docker ni Kubernetes lo cambian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Kubernetes casi no añade costo sobre el mismo hardware (−1,5 % a −3,5 %)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Escalar una capa sin estado ayuda poco si el estado está centralizado: ×1,55 con 3 réplicas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Agregar nodos no sirve si lo que limita no se replica: dos nodos quedaron &lt; 7 % de CPU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Los valores por defecto de K8s pueden empeorar un sistema saturado: sondas de 1 segundo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Sin métricas internas solo veíamos que no escalaba; Prometheus mostró por qué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cenarios de despliegue">
  <a:themeElements>
    <a:clrScheme name="Escenarios de despliegue">
      <a:dk1>
        <a:srgbClr val="1F2A37"/>
      </a:dk1>
      <a:lt1>
        <a:srgbClr val="FFFFFF"/>
      </a:lt1>
      <a:dk2>
        <a:srgbClr val="2B3A4B"/>
      </a:dk2>
      <a:lt2>
        <a:srgbClr val="F3F5F8"/>
      </a:lt2>
      <a:accent1>
        <a:srgbClr val="6D28D9"/>
      </a:accent1>
      <a:accent2>
        <a:srgbClr val="2563EB"/>
      </a:accent2>
      <a:accent3>
        <a:srgbClr val="F26B1D"/>
      </a:accent3>
      <a:accent4>
        <a:srgbClr val="16A34A"/>
      </a:accent4>
      <a:accent5>
        <a:srgbClr val="DC2626"/>
      </a:accent5>
      <a:accent6>
        <a:srgbClr val="B45309"/>
      </a:accent6>
      <a:hlink>
        <a:srgbClr val="2563EB"/>
      </a:hlink>
      <a:folHlink>
        <a:srgbClr val="6B7280"/>
      </a:folHlink>
    </a:clrScheme>
    <a:fontScheme name="Escenarios de desplieg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Comportamiento de una aplicación bajo diferentes escenarios de despliegue</dc:title>
  <dc:subject>PptxGenJS Presentation</dc:subject>
  <dc:creator>David Suarez · Thomas Perez · Jesus Santodomingo</dc:creator>
  <cp:lastModifiedBy>David Suarez · Thomas Perez · Jesus Santodomingo</cp:lastModifiedBy>
  <cp:revision>1</cp:revision>
  <dcterms:created xsi:type="dcterms:W3CDTF">2026-11-01T22:37:46Z</dcterms:created>
  <dcterms:modified xsi:type="dcterms:W3CDTF">2026-11-01T22:37:46Z</dcterms:modified>
</cp:coreProperties>
</file>